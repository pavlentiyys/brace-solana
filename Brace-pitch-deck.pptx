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5143500"/>
  <p:defaultTextStyle>
    <a:defPPr/>
    <a:lvl1pPr marL="0" algn="l">
      <a:defRPr sz="1800"/>
    </a:lvl1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hf/>
  <p:clrMap xmlns="http://schemas.openxmlformats.org/drawingml/2006/main" accent1="accent1" accent2="accent2" accent3="accent3" accent4="accent4" accent5="accent5" accent6="accent6" bg1="dk1" bg2="dk2" folHlink="folHlink" hlink="hlink" tx1="lt1" tx2="lt2"/>
  <p:txStyles>
    <p:titleStyle/>
    <p:bodyStyle/>
    <p:otherStyle/>
  </p:txStyles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Repository asset: .github/brace-banner.png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Repository positioning: README.md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Problem and solution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Problem and solution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Security model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Architecture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program/README.md: Kamino adapter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Security model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program/README.md: external programs and invariants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What is implemented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frontend/README.md: architecture and wallet/data source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Web application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frontend/components/analytics/crypto-analytics.tsx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Devnet tooling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tools/devnet/README.md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Scope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Roadmap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Security model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 txBox="1"/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solidFill>
                  <a:srgbClr val="6E7E95"/>
                </a:solidFill>
                <a:latin typeface="Aptos"/>
              </a:rPr>
              <a:t>[Sources]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Problem and solution</a:t>
            </a:r>
            <a:endParaRPr/>
          </a:p>
          <a:p>
            <a:r>
              <a:rPr lang="en-US" sz="1100" b="0">
                <a:solidFill>
                  <a:srgbClr val="A8B5C8"/>
                </a:solidFill>
                <a:latin typeface="Aptos"/>
              </a:rPr>
              <a:t>README.md: What is implemented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Brace master">
    <p:spTree>
      <p:nvGrpSpPr>
        <p:cNvPr id="1" name=""/>
        <p:cNvGrpSpPr/>
        <p:nvPr/>
      </p:nvGrpSpPr>
      <p:grpSpPr/>
    </p:spTree>
  </p:cSld>
  <p:clrMap xmlns="http://schemas.openxmlformats.org/drawingml/2006/main" accent1="accent1" accent2="accent2" accent3="accent3" accent4="accent4" accent5="accent5" accent6="accent6" bg1="dk1" bg2="dk2" folHlink="folHlink" hlink="hlink" tx1="lt1" tx2="lt2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brace-banner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/>
      <p:pic>
        <p:nvPicPr>
          <p:cNvPr id="2" name="Brace hero image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Hero overlay"/>
          <p:cNvSpPr txBox="1"/>
          <p:nvPr/>
        </p:nvSpPr>
        <p:spPr>
          <a:xfrm>
            <a:off x="0" y="0"/>
            <a:ext cx="5905500" cy="6858000"/>
          </a:xfrm>
          <a:prstGeom prst="rect">
            <a:avLst/>
          </a:prstGeom>
          <a:solidFill>
            <a:srgbClr val="07111F">
              <a:alpha val="78000"/>
            </a:srgbClr>
          </a:soli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685800" y="704850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4800" b="1">
                <a:solidFill>
                  <a:srgbClr val="F6FAFF"/>
                </a:solidFill>
                <a:latin typeface="Aptos"/>
              </a:rPr>
              <a:t>BRACE</a:t>
            </a:r>
            <a:endParaRPr lang="en-US" sz="4800"/>
          </a:p>
        </p:txBody>
      </p:sp>
      <p:sp>
        <p:nvSpPr>
          <p:cNvPr id="5" name="Hero title"/>
          <p:cNvSpPr txBox="1"/>
          <p:nvPr/>
        </p:nvSpPr>
        <p:spPr>
          <a:xfrm>
            <a:off x="685800" y="1790700"/>
            <a:ext cx="4953000" cy="1428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4200" b="1">
                <a:solidFill>
                  <a:srgbClr val="F6FAFF"/>
                </a:solidFill>
                <a:latin typeface="Aptos"/>
              </a:rPr>
              <a:t>The control layer for liquidation risk.</a:t>
            </a:r>
            <a:endParaRPr lang="en-US" sz="4200"/>
          </a:p>
        </p:txBody>
      </p:sp>
      <p:sp>
        <p:nvSpPr>
          <p:cNvPr id="6" name="Hero subhead"/>
          <p:cNvSpPr txBox="1"/>
          <p:nvPr/>
        </p:nvSpPr>
        <p:spPr>
          <a:xfrm>
            <a:off x="685800" y="3543300"/>
            <a:ext cx="4381500" cy="8572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0">
                <a:solidFill>
                  <a:srgbClr val="A8B5C8"/>
                </a:solidFill>
                <a:latin typeface="Aptos"/>
              </a:rPr>
              <a:t>Policy-constrained automation for Kamino positions on Solana.</a:t>
            </a:r>
            <a:endParaRPr lang="en-US" sz="2100"/>
          </a:p>
        </p:txBody>
      </p:sp>
      <p:cxnSp>
        <p:nvCxnSpPr>
          <p:cNvPr id="7" name="Accent"/>
          <p:cNvCxnSpPr/>
          <p:nvPr/>
        </p:nvCxnSpPr>
        <p:spPr>
          <a:xfrm>
            <a:off x="685800" y="4762500"/>
            <a:ext cx="1790700" cy="0"/>
          </a:xfrm>
          <a:prstGeom prst="line">
            <a:avLst/>
          </a:prstGeom>
          <a:ln w="50800">
            <a:solidFill>
              <a:srgbClr val="3C9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eta"/>
          <p:cNvSpPr txBox="1"/>
          <p:nvPr/>
        </p:nvSpPr>
        <p:spPr>
          <a:xfrm>
            <a:off x="685800" y="501015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DEVNET PRODUCT DEMO  /  2026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The hard part isn’t a price alert. It’s authority.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02</a:t>
            </a:r>
            <a:endParaRPr lang="en-US" sz="1100"/>
          </a:p>
        </p:txBody>
      </p:sp>
      <p:sp>
        <p:nvSpPr>
          <p:cNvPr id="20" name="Lead"/>
          <p:cNvSpPr txBox="1"/>
          <p:nvPr/>
        </p:nvSpPr>
        <p:spPr>
          <a:xfrm>
            <a:off x="685800" y="2114550"/>
            <a:ext cx="4572000" cy="704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500" b="1">
                <a:solidFill>
                  <a:srgbClr val="F6FAFF"/>
                </a:solidFill>
                <a:latin typeface="Aptos"/>
              </a:rPr>
              <a:t>A position can cross its liquidation threshold while its owner is offline.</a:t>
            </a:r>
            <a:endParaRPr lang="en-US" sz="2500"/>
          </a:p>
        </p:txBody>
      </p:sp>
      <p:sp>
        <p:nvSpPr>
          <p:cNvPr id="21" name="Body"/>
          <p:cNvSpPr txBox="1"/>
          <p:nvPr/>
        </p:nvSpPr>
        <p:spPr>
          <a:xfrm>
            <a:off x="685800" y="3028950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900" b="0">
                <a:solidFill>
                  <a:srgbClr val="A8B5C8"/>
                </a:solidFill>
                <a:latin typeface="Aptos"/>
              </a:rPr>
              <a:t>An alert creates awareness. The owner still has to notice, open a wallet, and act in time.</a:t>
            </a:r>
            <a:endParaRPr lang="en-US" sz="1900"/>
          </a:p>
        </p:txBody>
      </p:sp>
      <p:sp>
        <p:nvSpPr>
          <p:cNvPr id="30" name="Risk rail"/>
          <p:cNvSpPr txBox="1"/>
          <p:nvPr/>
        </p:nvSpPr>
        <p:spPr>
          <a:xfrm>
            <a:off x="6191250" y="2114550"/>
            <a:ext cx="38100" cy="2819400"/>
          </a:xfrm>
          <a:prstGeom prst="rect">
            <a:avLst/>
          </a:prstGeom>
          <a:solidFill>
            <a:srgbClr val="3C9DFF"/>
          </a:solidFill>
          <a:ln>
            <a:noFill/>
          </a:ln>
        </p:spPr>
      </p:sp>
      <p:sp>
        <p:nvSpPr>
          <p:cNvPr id="31" name="Step 1"/>
          <p:cNvSpPr txBox="1"/>
          <p:nvPr/>
        </p:nvSpPr>
        <p:spPr>
          <a:xfrm>
            <a:off x="6572250" y="2152650"/>
            <a:ext cx="3905250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500" b="1">
                <a:solidFill>
                  <a:srgbClr val="7AD7FF"/>
                </a:solidFill>
                <a:latin typeface="Aptos"/>
              </a:rPr>
              <a:t>01  PRICE MOVES</a:t>
            </a:r>
            <a:endParaRPr lang="en-US" sz="1500"/>
          </a:p>
        </p:txBody>
      </p:sp>
      <p:sp>
        <p:nvSpPr>
          <p:cNvPr id="32" name="Step 1 body"/>
          <p:cNvSpPr txBox="1"/>
          <p:nvPr/>
        </p:nvSpPr>
        <p:spPr>
          <a:xfrm>
            <a:off x="6572250" y="2524125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1">
                <a:solidFill>
                  <a:srgbClr val="F6FAFF"/>
                </a:solidFill>
                <a:latin typeface="Aptos"/>
              </a:rPr>
              <a:t>LTV approaches the edge.</a:t>
            </a:r>
            <a:endParaRPr lang="en-US" sz="2100"/>
          </a:p>
        </p:txBody>
      </p:sp>
      <p:cxnSp>
        <p:nvCxnSpPr>
          <p:cNvPr id="33" name="Arrow 1"/>
          <p:cNvCxnSpPr/>
          <p:nvPr/>
        </p:nvCxnSpPr>
        <p:spPr>
          <a:xfrm>
            <a:off x="7239000" y="3048000"/>
            <a:ext cx="0" cy="381000"/>
          </a:xfrm>
          <a:prstGeom prst="line">
            <a:avLst/>
          </a:prstGeom>
          <a:ln w="25400">
            <a:solidFill>
              <a:srgbClr val="3C9D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tep 2"/>
          <p:cNvSpPr txBox="1"/>
          <p:nvPr/>
        </p:nvSpPr>
        <p:spPr>
          <a:xfrm>
            <a:off x="6572250" y="3467100"/>
            <a:ext cx="3905250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500" b="1">
                <a:solidFill>
                  <a:srgbClr val="7AD7FF"/>
                </a:solidFill>
                <a:latin typeface="Aptos"/>
              </a:rPr>
              <a:t>02  OWNER IS AWAY</a:t>
            </a:r>
            <a:endParaRPr lang="en-US" sz="1500"/>
          </a:p>
        </p:txBody>
      </p:sp>
      <p:sp>
        <p:nvSpPr>
          <p:cNvPr id="35" name="Step 2 body"/>
          <p:cNvSpPr txBox="1"/>
          <p:nvPr/>
        </p:nvSpPr>
        <p:spPr>
          <a:xfrm>
            <a:off x="6572250" y="3838575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1">
                <a:solidFill>
                  <a:srgbClr val="F6FAFF"/>
                </a:solidFill>
                <a:latin typeface="Aptos"/>
              </a:rPr>
              <a:t>The decision window narrows.</a:t>
            </a:r>
            <a:endParaRPr lang="en-US" sz="2100"/>
          </a:p>
        </p:txBody>
      </p:sp>
      <p:cxnSp>
        <p:nvCxnSpPr>
          <p:cNvPr id="36" name="Arrow 2"/>
          <p:cNvCxnSpPr/>
          <p:nvPr/>
        </p:nvCxnSpPr>
        <p:spPr>
          <a:xfrm>
            <a:off x="7239000" y="4362450"/>
            <a:ext cx="0" cy="381000"/>
          </a:xfrm>
          <a:prstGeom prst="line">
            <a:avLst/>
          </a:prstGeom>
          <a:ln w="25400">
            <a:solidFill>
              <a:srgbClr val="3C9D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tep 3"/>
          <p:cNvSpPr txBox="1"/>
          <p:nvPr/>
        </p:nvSpPr>
        <p:spPr>
          <a:xfrm>
            <a:off x="6572250" y="4781550"/>
            <a:ext cx="3905250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500" b="1">
                <a:solidFill>
                  <a:srgbClr val="7AD7FF"/>
                </a:solidFill>
                <a:latin typeface="Aptos"/>
              </a:rPr>
              <a:t>03  LIQUIDATION</a:t>
            </a:r>
            <a:endParaRPr lang="en-US" sz="1500"/>
          </a:p>
        </p:txBody>
      </p:sp>
      <p:sp>
        <p:nvSpPr>
          <p:cNvPr id="38" name="Step 3 body"/>
          <p:cNvSpPr txBox="1"/>
          <p:nvPr/>
        </p:nvSpPr>
        <p:spPr>
          <a:xfrm>
            <a:off x="6572250" y="5153025"/>
            <a:ext cx="3905250" cy="4762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1">
                <a:solidFill>
                  <a:srgbClr val="F6FAFF"/>
                </a:solidFill>
                <a:latin typeface="Aptos"/>
              </a:rPr>
              <a:t>The protocol acts before the owner can.</a:t>
            </a:r>
            <a:endParaRPr lang="en-US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Brace turns a user’s rule into a narrow on-chain action.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03</a:t>
            </a:r>
            <a:endParaRPr lang="en-US" sz="1100"/>
          </a:p>
        </p:txBody>
      </p:sp>
      <p:sp>
        <p:nvSpPr>
          <p:cNvPr id="20" name="Quote"/>
          <p:cNvSpPr txBox="1"/>
          <p:nvPr/>
        </p:nvSpPr>
        <p:spPr>
          <a:xfrm>
            <a:off x="685800" y="2190750"/>
            <a:ext cx="1000125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000" b="1">
                <a:solidFill>
                  <a:srgbClr val="F6FAFF"/>
                </a:solidFill>
                <a:latin typeface="Aptos"/>
              </a:rPr>
              <a:t>“At 80% LTV, repay toward 70% — using only the reserve I funded.”</a:t>
            </a:r>
            <a:endParaRPr lang="en-US" sz="3000"/>
          </a:p>
        </p:txBody>
      </p:sp>
      <p:cxnSp>
        <p:nvCxnSpPr>
          <p:cNvPr id="21" name="Quote accent"/>
          <p:cNvCxnSpPr/>
          <p:nvPr/>
        </p:nvCxnSpPr>
        <p:spPr>
          <a:xfrm>
            <a:off x="685800" y="3219450"/>
            <a:ext cx="1352550" cy="0"/>
          </a:xfrm>
          <a:prstGeom prst="line">
            <a:avLst/>
          </a:prstGeom>
          <a:ln w="50800">
            <a:solidFill>
              <a:srgbClr val="3C9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wner"/>
          <p:cNvSpPr txBox="1"/>
          <p:nvPr/>
        </p:nvSpPr>
        <p:spPr>
          <a:xfrm>
            <a:off x="685800" y="37338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OWNER SETS THE BOUNDARY</a:t>
            </a:r>
            <a:endParaRPr lang="en-US" sz="1300"/>
          </a:p>
        </p:txBody>
      </p:sp>
      <p:sp>
        <p:nvSpPr>
          <p:cNvPr id="23" name="Owner body"/>
          <p:cNvSpPr txBox="1"/>
          <p:nvPr/>
        </p:nvSpPr>
        <p:spPr>
          <a:xfrm>
            <a:off x="685800" y="4114800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Trigger, target, cap, cooldown, window, and expiry.</a:t>
            </a:r>
            <a:endParaRPr lang="en-US" sz="2000"/>
          </a:p>
        </p:txBody>
      </p:sp>
      <p:sp>
        <p:nvSpPr>
          <p:cNvPr id="24" name="Reserve"/>
          <p:cNvSpPr txBox="1"/>
          <p:nvPr/>
        </p:nvSpPr>
        <p:spPr>
          <a:xfrm>
            <a:off x="4476750" y="37338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RESERVE FUNDS THE RESPONSE</a:t>
            </a:r>
            <a:endParaRPr lang="en-US" sz="1300"/>
          </a:p>
        </p:txBody>
      </p:sp>
      <p:sp>
        <p:nvSpPr>
          <p:cNvPr id="25" name="Reserve body"/>
          <p:cNvSpPr txBox="1"/>
          <p:nvPr/>
        </p:nvSpPr>
        <p:spPr>
          <a:xfrm>
            <a:off x="4476750" y="4114800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The agent can draw only from the reserve the owner funded.</a:t>
            </a:r>
            <a:endParaRPr lang="en-US" sz="2000"/>
          </a:p>
        </p:txBody>
      </p:sp>
      <p:sp>
        <p:nvSpPr>
          <p:cNvPr id="26" name="Agent"/>
          <p:cNvSpPr txBox="1"/>
          <p:nvPr/>
        </p:nvSpPr>
        <p:spPr>
          <a:xfrm>
            <a:off x="8267700" y="3733800"/>
            <a:ext cx="28575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AGENT SUBMITS THE REQUEST</a:t>
            </a:r>
            <a:endParaRPr lang="en-US" sz="1300"/>
          </a:p>
        </p:txBody>
      </p:sp>
      <p:sp>
        <p:nvSpPr>
          <p:cNvPr id="27" name="Agent body"/>
          <p:cNvSpPr txBox="1"/>
          <p:nvPr/>
        </p:nvSpPr>
        <p:spPr>
          <a:xfrm>
            <a:off x="8267700" y="4114800"/>
            <a:ext cx="276225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The program decides whether it is allowed to execute.</a:t>
            </a:r>
            <a:endParaRPr lang="en-US"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One transaction. Two sources of truth.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04</a:t>
            </a:r>
            <a:endParaRPr lang="en-US" sz="1100"/>
          </a:p>
        </p:txBody>
      </p:sp>
      <p:sp>
        <p:nvSpPr>
          <p:cNvPr id="20" name="Architecture lead"/>
          <p:cNvSpPr txBox="1"/>
          <p:nvPr/>
        </p:nvSpPr>
        <p:spPr>
          <a:xfrm>
            <a:off x="685800" y="2038350"/>
            <a:ext cx="371475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200" b="1">
                <a:solidFill>
                  <a:srgbClr val="F6FAFF"/>
                </a:solidFill>
                <a:latin typeface="Aptos"/>
              </a:rPr>
              <a:t>Brace reads the live obligation, validates the policy, then calls Kamino through CPI.</a:t>
            </a:r>
            <a:endParaRPr lang="en-US" sz="2200"/>
          </a:p>
        </p:txBody>
      </p:sp>
      <p:cxnSp>
        <p:nvCxnSpPr>
          <p:cNvPr id="31" name="Owner to app"/>
          <p:cNvCxnSpPr/>
          <p:nvPr/>
        </p:nvCxnSpPr>
        <p:spPr>
          <a:xfrm>
            <a:off x="2476500" y="3924300"/>
            <a:ext cx="1524000" cy="0"/>
          </a:xfrm>
          <a:prstGeom prst="line">
            <a:avLst/>
          </a:prstGeom>
          <a:ln w="25400">
            <a:solidFill>
              <a:srgbClr val="3C9D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pp to Kamino"/>
          <p:cNvCxnSpPr/>
          <p:nvPr/>
        </p:nvCxnSpPr>
        <p:spPr>
          <a:xfrm>
            <a:off x="5238750" y="3924300"/>
            <a:ext cx="1524000" cy="0"/>
          </a:xfrm>
          <a:prstGeom prst="line">
            <a:avLst/>
          </a:prstGeom>
          <a:ln w="25400">
            <a:solidFill>
              <a:srgbClr val="3C9D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Watcher to guard"/>
          <p:cNvCxnSpPr/>
          <p:nvPr/>
        </p:nvCxnSpPr>
        <p:spPr>
          <a:xfrm>
            <a:off x="4000500" y="5334000"/>
            <a:ext cx="2762250" cy="0"/>
          </a:xfrm>
          <a:prstGeom prst="line">
            <a:avLst/>
          </a:prstGeom>
          <a:ln w="25400">
            <a:solidFill>
              <a:srgbClr val="7AD7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Guard to Kamino"/>
          <p:cNvCxnSpPr/>
          <p:nvPr/>
        </p:nvCxnSpPr>
        <p:spPr>
          <a:xfrm>
            <a:off x="8001000" y="4667250"/>
            <a:ext cx="1619250" cy="0"/>
          </a:xfrm>
          <a:prstGeom prst="line">
            <a:avLst/>
          </a:prstGeom>
          <a:ln w="25400">
            <a:solidFill>
              <a:srgbClr val="7AD7FF"/>
            </a:solidFill>
            <a:tailEnd type="none"/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wner node"/>
          <p:cNvSpPr txBox="1"/>
          <p:nvPr/>
        </p:nvSpPr>
        <p:spPr>
          <a:xfrm>
            <a:off x="685800" y="3429000"/>
            <a:ext cx="1790700" cy="9906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41" name="Owner label"/>
          <p:cNvSpPr txBox="1"/>
          <p:nvPr/>
        </p:nvSpPr>
        <p:spPr>
          <a:xfrm>
            <a:off x="876300" y="3638550"/>
            <a:ext cx="1381125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OWNER + PHANTOM</a:t>
            </a:r>
            <a:endParaRPr lang="en-US" sz="1300"/>
          </a:p>
        </p:txBody>
      </p:sp>
      <p:sp>
        <p:nvSpPr>
          <p:cNvPr id="42" name="Owner copy"/>
          <p:cNvSpPr txBox="1"/>
          <p:nvPr/>
        </p:nvSpPr>
        <p:spPr>
          <a:xfrm>
            <a:off x="876300" y="3943350"/>
            <a:ext cx="1381125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800" b="1">
                <a:solidFill>
                  <a:srgbClr val="F6FAFF"/>
                </a:solidFill>
                <a:latin typeface="Aptos"/>
              </a:rPr>
              <a:t>Signs the boundary.</a:t>
            </a:r>
            <a:endParaRPr lang="en-US" sz="1800"/>
          </a:p>
        </p:txBody>
      </p:sp>
      <p:sp>
        <p:nvSpPr>
          <p:cNvPr id="43" name="App node"/>
          <p:cNvSpPr txBox="1"/>
          <p:nvPr/>
        </p:nvSpPr>
        <p:spPr>
          <a:xfrm>
            <a:off x="4000500" y="3429000"/>
            <a:ext cx="1238250" cy="9906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44" name="App label"/>
          <p:cNvSpPr txBox="1"/>
          <p:nvPr/>
        </p:nvSpPr>
        <p:spPr>
          <a:xfrm>
            <a:off x="4191000" y="3638550"/>
            <a:ext cx="87630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NEXT.JS APP</a:t>
            </a:r>
            <a:endParaRPr lang="en-US" sz="1200"/>
          </a:p>
        </p:txBody>
      </p:sp>
      <p:sp>
        <p:nvSpPr>
          <p:cNvPr id="45" name="App copy"/>
          <p:cNvSpPr txBox="1"/>
          <p:nvPr/>
        </p:nvSpPr>
        <p:spPr>
          <a:xfrm>
            <a:off x="4191000" y="3943350"/>
            <a:ext cx="8763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F6FAFF"/>
                </a:solidFill>
                <a:latin typeface="Aptos"/>
              </a:rPr>
              <a:t>Chat + reads</a:t>
            </a:r>
            <a:endParaRPr lang="en-US" sz="1600"/>
          </a:p>
        </p:txBody>
      </p:sp>
      <p:sp>
        <p:nvSpPr>
          <p:cNvPr id="46" name="Kamino node"/>
          <p:cNvSpPr txBox="1"/>
          <p:nvPr/>
        </p:nvSpPr>
        <p:spPr>
          <a:xfrm>
            <a:off x="6762750" y="3429000"/>
            <a:ext cx="1714500" cy="9906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47" name="Kamino label"/>
          <p:cNvSpPr txBox="1"/>
          <p:nvPr/>
        </p:nvSpPr>
        <p:spPr>
          <a:xfrm>
            <a:off x="6953250" y="36385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KAMINO KLEND</a:t>
            </a:r>
            <a:endParaRPr lang="en-US" sz="1300"/>
          </a:p>
        </p:txBody>
      </p:sp>
      <p:sp>
        <p:nvSpPr>
          <p:cNvPr id="48" name="Kamino copy"/>
          <p:cNvSpPr txBox="1"/>
          <p:nvPr/>
        </p:nvSpPr>
        <p:spPr>
          <a:xfrm>
            <a:off x="6953250" y="39433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F6FAFF"/>
                </a:solidFill>
                <a:latin typeface="Aptos"/>
              </a:rPr>
              <a:t>Obligation + reserves</a:t>
            </a:r>
            <a:endParaRPr lang="en-US" sz="1600"/>
          </a:p>
        </p:txBody>
      </p:sp>
      <p:sp>
        <p:nvSpPr>
          <p:cNvPr id="49" name="Guard node"/>
          <p:cNvSpPr txBox="1"/>
          <p:nvPr/>
        </p:nvSpPr>
        <p:spPr>
          <a:xfrm>
            <a:off x="6762750" y="4953000"/>
            <a:ext cx="1714500" cy="990600"/>
          </a:xfrm>
          <a:prstGeom prst="roundRect">
            <a:avLst/>
          </a:prstGeom>
          <a:solidFill>
            <a:srgbClr val="1468D8"/>
          </a:solidFill>
          <a:ln w="1">
            <a:solidFill>
              <a:srgbClr val="3C9DFF"/>
            </a:solidFill>
          </a:ln>
        </p:spPr>
      </p:sp>
      <p:sp>
        <p:nvSpPr>
          <p:cNvPr id="50" name="Guard label"/>
          <p:cNvSpPr txBox="1"/>
          <p:nvPr/>
        </p:nvSpPr>
        <p:spPr>
          <a:xfrm>
            <a:off x="6953250" y="5162550"/>
            <a:ext cx="1333500" cy="247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F6FAFF"/>
                </a:solidFill>
                <a:latin typeface="Aptos"/>
              </a:rPr>
              <a:t>BRACE GUARD</a:t>
            </a:r>
            <a:endParaRPr lang="en-US" sz="1300"/>
          </a:p>
        </p:txBody>
      </p:sp>
      <p:sp>
        <p:nvSpPr>
          <p:cNvPr id="51" name="Guard copy"/>
          <p:cNvSpPr txBox="1"/>
          <p:nvPr/>
        </p:nvSpPr>
        <p:spPr>
          <a:xfrm>
            <a:off x="6953250" y="546735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F6FAFF"/>
                </a:solidFill>
                <a:latin typeface="Aptos"/>
              </a:rPr>
              <a:t>Policy + CPI</a:t>
            </a:r>
            <a:endParaRPr lang="en-US" sz="1600"/>
          </a:p>
        </p:txBody>
      </p:sp>
      <p:sp>
        <p:nvSpPr>
          <p:cNvPr id="52" name="Watcher"/>
          <p:cNvSpPr txBox="1"/>
          <p:nvPr/>
        </p:nvSpPr>
        <p:spPr>
          <a:xfrm>
            <a:off x="4000500" y="4972050"/>
            <a:ext cx="2190750" cy="666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A8B5C8"/>
                </a:solidFill>
                <a:latin typeface="Aptos"/>
              </a:rPr>
              <a:t>WATCHER / AGENT KEY
Submits execute_action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The rule lives on-chain, not in an operator’s promise.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05</a:t>
            </a:r>
            <a:endParaRPr lang="en-US" sz="1100"/>
          </a:p>
        </p:txBody>
      </p:sp>
      <p:sp>
        <p:nvSpPr>
          <p:cNvPr id="20" name="Lead"/>
          <p:cNvSpPr txBox="1"/>
          <p:nvPr/>
        </p:nvSpPr>
        <p:spPr>
          <a:xfrm>
            <a:off x="685800" y="2038350"/>
            <a:ext cx="10096500" cy="5143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400" b="1">
                <a:solidFill>
                  <a:srgbClr val="F6FAFF"/>
                </a:solidFill>
                <a:latin typeface="Aptos"/>
              </a:rPr>
              <a:t>The agent is useful because its authority is deliberately smaller than the owner’s.</a:t>
            </a:r>
            <a:endParaRPr lang="en-US" sz="2400"/>
          </a:p>
        </p:txBody>
      </p:sp>
      <p:sp>
        <p:nvSpPr>
          <p:cNvPr id="30" name="Safety line"/>
          <p:cNvSpPr txBox="1"/>
          <p:nvPr/>
        </p:nvSpPr>
        <p:spPr>
          <a:xfrm>
            <a:off x="685800" y="2952750"/>
            <a:ext cx="10820400" cy="9525"/>
          </a:xfrm>
          <a:prstGeom prst="rect">
            <a:avLst/>
          </a:prstGeom>
          <a:solidFill>
            <a:srgbClr val="1C334D"/>
          </a:solidFill>
          <a:ln>
            <a:noFill/>
          </a:ln>
        </p:spPr>
      </p:sp>
      <p:sp>
        <p:nvSpPr>
          <p:cNvPr id="31" name="Safety 1"/>
          <p:cNvSpPr txBox="1"/>
          <p:nvPr/>
        </p:nvSpPr>
        <p:spPr>
          <a:xfrm>
            <a:off x="685800" y="32575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01  FIXED DESTINATION</a:t>
            </a:r>
            <a:endParaRPr lang="en-US" sz="1300"/>
          </a:p>
        </p:txBody>
      </p:sp>
      <p:sp>
        <p:nvSpPr>
          <p:cNvPr id="32" name="Safety 1 body"/>
          <p:cNvSpPr txBox="1"/>
          <p:nvPr/>
        </p:nvSpPr>
        <p:spPr>
          <a:xfrm>
            <a:off x="685800" y="36195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900" b="1">
                <a:solidFill>
                  <a:srgbClr val="F6FAFF"/>
                </a:solidFill>
                <a:latin typeface="Aptos"/>
              </a:rPr>
              <a:t>No arbitrary recipient. Funds move to the configured Kamino supply vault.</a:t>
            </a:r>
            <a:endParaRPr lang="en-US" sz="1900"/>
          </a:p>
        </p:txBody>
      </p:sp>
      <p:sp>
        <p:nvSpPr>
          <p:cNvPr id="33" name="Safety 2"/>
          <p:cNvSpPr txBox="1"/>
          <p:nvPr/>
        </p:nvSpPr>
        <p:spPr>
          <a:xfrm>
            <a:off x="3429000" y="32575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02  LIVE CHECKS</a:t>
            </a:r>
            <a:endParaRPr lang="en-US" sz="1300"/>
          </a:p>
        </p:txBody>
      </p:sp>
      <p:sp>
        <p:nvSpPr>
          <p:cNvPr id="34" name="Safety 2 body"/>
          <p:cNvSpPr txBox="1"/>
          <p:nvPr/>
        </p:nvSpPr>
        <p:spPr>
          <a:xfrm>
            <a:off x="3429000" y="36195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900" b="1">
                <a:solidFill>
                  <a:srgbClr val="F6FAFF"/>
                </a:solidFill>
                <a:latin typeface="Aptos"/>
              </a:rPr>
              <a:t>Account owners, market relationships, oracle status, and freshness are checked at execution.</a:t>
            </a:r>
            <a:endParaRPr lang="en-US" sz="1900"/>
          </a:p>
        </p:txBody>
      </p:sp>
      <p:sp>
        <p:nvSpPr>
          <p:cNvPr id="35" name="Safety 3"/>
          <p:cNvSpPr txBox="1"/>
          <p:nvPr/>
        </p:nvSpPr>
        <p:spPr>
          <a:xfrm>
            <a:off x="6172200" y="32575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03  HARD LIMITS</a:t>
            </a:r>
            <a:endParaRPr lang="en-US" sz="1300"/>
          </a:p>
        </p:txBody>
      </p:sp>
      <p:sp>
        <p:nvSpPr>
          <p:cNvPr id="36" name="Safety 3 body"/>
          <p:cNvSpPr txBox="1"/>
          <p:nvPr/>
        </p:nvSpPr>
        <p:spPr>
          <a:xfrm>
            <a:off x="6172200" y="36195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900" b="1">
                <a:solidFill>
                  <a:srgbClr val="F6FAFF"/>
                </a:solidFill>
                <a:latin typeface="Aptos"/>
              </a:rPr>
              <a:t>Cap, cooldown, action window, expiry, and trigger are enforced by the program.</a:t>
            </a:r>
            <a:endParaRPr lang="en-US" sz="1900"/>
          </a:p>
        </p:txBody>
      </p:sp>
      <p:sp>
        <p:nvSpPr>
          <p:cNvPr id="37" name="Safety 4"/>
          <p:cNvSpPr txBox="1"/>
          <p:nvPr/>
        </p:nvSpPr>
        <p:spPr>
          <a:xfrm>
            <a:off x="8915400" y="32575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04  OWNER EXIT</a:t>
            </a:r>
            <a:endParaRPr lang="en-US" sz="1300"/>
          </a:p>
        </p:txBody>
      </p:sp>
      <p:sp>
        <p:nvSpPr>
          <p:cNvPr id="38" name="Safety 4 body"/>
          <p:cNvSpPr txBox="1"/>
          <p:nvPr/>
        </p:nvSpPr>
        <p:spPr>
          <a:xfrm>
            <a:off x="8915400" y="36195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900" b="1">
                <a:solidFill>
                  <a:srgbClr val="F6FAFF"/>
                </a:solidFill>
                <a:latin typeface="Aptos"/>
              </a:rPr>
              <a:t>Pause, revoke, and withdraw remain owner-controlled.</a:t>
            </a:r>
            <a:endParaRPr lang="en-US" sz="1900"/>
          </a:p>
        </p:txBody>
      </p:sp>
      <p:cxnSp>
        <p:nvCxnSpPr>
          <p:cNvPr id="40" name="Bottom accent"/>
          <p:cNvCxnSpPr/>
          <p:nvPr/>
        </p:nvCxnSpPr>
        <p:spPr>
          <a:xfrm>
            <a:off x="685800" y="5467350"/>
            <a:ext cx="10820400" cy="0"/>
          </a:xfrm>
          <a:prstGeom prst="line">
            <a:avLst/>
          </a:prstGeom>
          <a:ln w="38100">
            <a:solidFill>
              <a:srgbClr val="3C9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Bottom note"/>
          <p:cNvSpPr txBox="1"/>
          <p:nvPr/>
        </p:nvSpPr>
        <p:spPr>
          <a:xfrm>
            <a:off x="685800" y="565785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800" b="1">
                <a:solidFill>
                  <a:srgbClr val="A8B5C8"/>
                </a:solidFill>
                <a:latin typeface="Aptos"/>
              </a:rPr>
              <a:t>The watcher proposes execution. The chain decides whether it is allowed.</a:t>
            </a:r>
            <a:endParaRPr 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Built to be inspected before it is trusted.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06</a:t>
            </a:r>
            <a:endParaRPr lang="en-US" sz="1100"/>
          </a:p>
        </p:txBody>
      </p:sp>
      <p:sp>
        <p:nvSpPr>
          <p:cNvPr id="20" name="Metric 1"/>
          <p:cNvSpPr txBox="1"/>
          <p:nvPr/>
        </p:nvSpPr>
        <p:spPr>
          <a:xfrm>
            <a:off x="685800" y="2305050"/>
            <a:ext cx="228600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4800" b="1">
                <a:solidFill>
                  <a:srgbClr val="3C9DFF"/>
                </a:solidFill>
                <a:latin typeface="Aptos"/>
              </a:rPr>
              <a:t>08</a:t>
            </a:r>
            <a:endParaRPr lang="en-US" sz="4800"/>
          </a:p>
        </p:txBody>
      </p:sp>
      <p:sp>
        <p:nvSpPr>
          <p:cNvPr id="21" name="Metric 1 label"/>
          <p:cNvSpPr txBox="1"/>
          <p:nvPr/>
        </p:nvSpPr>
        <p:spPr>
          <a:xfrm>
            <a:off x="685800" y="30861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800" b="1">
                <a:solidFill>
                  <a:srgbClr val="F6FAFF"/>
                </a:solidFill>
                <a:latin typeface="Aptos"/>
              </a:rPr>
              <a:t>on-chain instructions</a:t>
            </a:r>
            <a:endParaRPr lang="en-US" sz="1800"/>
          </a:p>
        </p:txBody>
      </p:sp>
      <p:sp>
        <p:nvSpPr>
          <p:cNvPr id="22" name="Metric 2"/>
          <p:cNvSpPr txBox="1"/>
          <p:nvPr/>
        </p:nvSpPr>
        <p:spPr>
          <a:xfrm>
            <a:off x="3448050" y="2305050"/>
            <a:ext cx="228600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4800" b="1">
                <a:solidFill>
                  <a:srgbClr val="3C9DFF"/>
                </a:solidFill>
                <a:latin typeface="Aptos"/>
              </a:rPr>
              <a:t>90</a:t>
            </a:r>
            <a:endParaRPr lang="en-US" sz="4800"/>
          </a:p>
        </p:txBody>
      </p:sp>
      <p:sp>
        <p:nvSpPr>
          <p:cNvPr id="23" name="Metric 2 label"/>
          <p:cNvSpPr txBox="1"/>
          <p:nvPr/>
        </p:nvSpPr>
        <p:spPr>
          <a:xfrm>
            <a:off x="3448050" y="30861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800" b="1">
                <a:solidFill>
                  <a:srgbClr val="F6FAFF"/>
                </a:solidFill>
                <a:latin typeface="Aptos"/>
              </a:rPr>
              <a:t>day delegation ceiling</a:t>
            </a:r>
            <a:endParaRPr lang="en-US" sz="1800"/>
          </a:p>
        </p:txBody>
      </p:sp>
      <p:sp>
        <p:nvSpPr>
          <p:cNvPr id="24" name="Metric 3"/>
          <p:cNvSpPr txBox="1"/>
          <p:nvPr/>
        </p:nvSpPr>
        <p:spPr>
          <a:xfrm>
            <a:off x="6210300" y="2305050"/>
            <a:ext cx="228600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4800" b="1">
                <a:solidFill>
                  <a:srgbClr val="3C9DFF"/>
                </a:solidFill>
                <a:latin typeface="Aptos"/>
              </a:rPr>
              <a:t>314</a:t>
            </a:r>
            <a:endParaRPr lang="en-US" sz="4800"/>
          </a:p>
        </p:txBody>
      </p:sp>
      <p:sp>
        <p:nvSpPr>
          <p:cNvPr id="25" name="Metric 3 label"/>
          <p:cNvSpPr txBox="1"/>
          <p:nvPr/>
        </p:nvSpPr>
        <p:spPr>
          <a:xfrm>
            <a:off x="6210300" y="30861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800" b="1">
                <a:solidFill>
                  <a:srgbClr val="F6FAFF"/>
                </a:solidFill>
                <a:latin typeface="Aptos"/>
              </a:rPr>
              <a:t>tests in the repository</a:t>
            </a:r>
            <a:endParaRPr lang="en-US" sz="1800"/>
          </a:p>
        </p:txBody>
      </p:sp>
      <p:sp>
        <p:nvSpPr>
          <p:cNvPr id="26" name="Metric 4"/>
          <p:cNvSpPr txBox="1"/>
          <p:nvPr/>
        </p:nvSpPr>
        <p:spPr>
          <a:xfrm>
            <a:off x="8953500" y="2305050"/>
            <a:ext cx="228600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4800" b="1">
                <a:solidFill>
                  <a:srgbClr val="64E2B0"/>
                </a:solidFill>
                <a:latin typeface="Aptos"/>
              </a:rPr>
              <a:t>0</a:t>
            </a:r>
            <a:endParaRPr lang="en-US" sz="4800"/>
          </a:p>
        </p:txBody>
      </p:sp>
      <p:sp>
        <p:nvSpPr>
          <p:cNvPr id="27" name="Metric 4 label"/>
          <p:cNvSpPr txBox="1"/>
          <p:nvPr/>
        </p:nvSpPr>
        <p:spPr>
          <a:xfrm>
            <a:off x="8953500" y="3086100"/>
            <a:ext cx="2286000" cy="4191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800" b="1">
                <a:solidFill>
                  <a:srgbClr val="F6FAFF"/>
                </a:solidFill>
                <a:latin typeface="Aptos"/>
              </a:rPr>
              <a:t>arbitrary destinations</a:t>
            </a:r>
            <a:endParaRPr lang="en-US" sz="1800"/>
          </a:p>
        </p:txBody>
      </p:sp>
      <p:sp>
        <p:nvSpPr>
          <p:cNvPr id="30" name="Build rail"/>
          <p:cNvSpPr txBox="1"/>
          <p:nvPr/>
        </p:nvSpPr>
        <p:spPr>
          <a:xfrm>
            <a:off x="685800" y="4114800"/>
            <a:ext cx="10820400" cy="9525"/>
          </a:xfrm>
          <a:prstGeom prst="rect">
            <a:avLst/>
          </a:prstGeom>
          <a:solidFill>
            <a:srgbClr val="1C334D"/>
          </a:solidFill>
          <a:ln>
            <a:noFill/>
          </a:ln>
        </p:spPr>
      </p:sp>
      <p:sp>
        <p:nvSpPr>
          <p:cNvPr id="31" name="Build title"/>
          <p:cNvSpPr txBox="1"/>
          <p:nvPr/>
        </p:nvSpPr>
        <p:spPr>
          <a:xfrm>
            <a:off x="685800" y="4419600"/>
            <a:ext cx="26670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THE IMPLEMENTATION IS TRACEABLE</a:t>
            </a:r>
            <a:endParaRPr lang="en-US" sz="1300"/>
          </a:p>
        </p:txBody>
      </p:sp>
      <p:sp>
        <p:nvSpPr>
          <p:cNvPr id="32" name="Build body"/>
          <p:cNvSpPr txBox="1"/>
          <p:nvPr/>
        </p:nvSpPr>
        <p:spPr>
          <a:xfrm>
            <a:off x="685800" y="4800600"/>
            <a:ext cx="97155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Direct KLend account decoding. Pinned program IDs. Shared LTV vectors across Rust and TypeScript. Negative cases covered in the test suite.</a:t>
            </a:r>
            <a:endParaRPr lang="en-US"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The product is a chat, because policy is a conversation.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07</a:t>
            </a:r>
            <a:endParaRPr lang="en-US" sz="1100"/>
          </a:p>
        </p:txBody>
      </p:sp>
      <p:sp>
        <p:nvSpPr>
          <p:cNvPr id="20" name="Chat prompt"/>
          <p:cNvSpPr txBox="1"/>
          <p:nvPr/>
        </p:nvSpPr>
        <p:spPr>
          <a:xfrm>
            <a:off x="685800" y="2190750"/>
            <a:ext cx="5391150" cy="971550"/>
          </a:xfrm>
          <a:prstGeom prst="rect">
            <a:avLst/>
          </a:prstGeom>
          <a:solidFill>
            <a:srgbClr val="0B1B30">
              <a:alpha val="100000"/>
            </a:srgbClr>
          </a:solidFill>
          <a:ln>
            <a:noFill/>
          </a:ln>
        </p:spPr>
        <p:txBody>
          <a:bodyPr lIns="209550" rIns="209550" tIns="209550" bIns="209550" anchor="t" wrap="square"/>
          <a:lstStyle/>
          <a:p>
            <a:pPr/>
            <a:r>
              <a:rPr lang="en-US" sz="3000" b="1">
                <a:solidFill>
                  <a:srgbClr val="F6FAFF"/>
                </a:solidFill>
                <a:latin typeface="Aptos"/>
              </a:rPr>
              <a:t>“At 80% LTV, repay toward 70%.”</a:t>
            </a:r>
            <a:endParaRPr lang="en-US" sz="3000"/>
          </a:p>
        </p:txBody>
      </p:sp>
      <p:sp>
        <p:nvSpPr>
          <p:cNvPr id="21" name="Chat detail"/>
          <p:cNvSpPr txBox="1"/>
          <p:nvPr/>
        </p:nvSpPr>
        <p:spPr>
          <a:xfrm>
            <a:off x="685800" y="3371850"/>
            <a:ext cx="5391150" cy="7810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0">
                <a:solidFill>
                  <a:srgbClr val="A8B5C8"/>
                </a:solidFill>
                <a:latin typeface="Aptos"/>
              </a:rPr>
              <a:t>The interface keeps the user in natural language while the command path stays deterministic.</a:t>
            </a:r>
            <a:endParaRPr lang="en-US" sz="2000"/>
          </a:p>
        </p:txBody>
      </p:sp>
      <p:sp>
        <p:nvSpPr>
          <p:cNvPr id="30" name="Feature rail"/>
          <p:cNvSpPr txBox="1"/>
          <p:nvPr/>
        </p:nvSpPr>
        <p:spPr>
          <a:xfrm>
            <a:off x="6858000" y="2190750"/>
            <a:ext cx="38100" cy="2952750"/>
          </a:xfrm>
          <a:prstGeom prst="rect">
            <a:avLst/>
          </a:prstGeom>
          <a:solidFill>
            <a:srgbClr val="3C9DFF"/>
          </a:solidFill>
          <a:ln>
            <a:noFill/>
          </a:ln>
        </p:spPr>
      </p:sp>
      <p:sp>
        <p:nvSpPr>
          <p:cNvPr id="31" name="Feature 1"/>
          <p:cNvSpPr txBox="1"/>
          <p:nvPr/>
        </p:nvSpPr>
        <p:spPr>
          <a:xfrm>
            <a:off x="7219950" y="219075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POSITION READOUTS</a:t>
            </a:r>
            <a:endParaRPr lang="en-US" sz="1300"/>
          </a:p>
        </p:txBody>
      </p:sp>
      <p:sp>
        <p:nvSpPr>
          <p:cNvPr id="32" name="Feature 1 body"/>
          <p:cNvSpPr txBox="1"/>
          <p:nvPr/>
        </p:nvSpPr>
        <p:spPr>
          <a:xfrm>
            <a:off x="7219950" y="2571750"/>
            <a:ext cx="36195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LTV, liquidation distance, reserve, and liveness.</a:t>
            </a:r>
            <a:endParaRPr lang="en-US" sz="2000"/>
          </a:p>
        </p:txBody>
      </p:sp>
      <p:sp>
        <p:nvSpPr>
          <p:cNvPr id="33" name="Feature 2"/>
          <p:cNvSpPr txBox="1"/>
          <p:nvPr/>
        </p:nvSpPr>
        <p:spPr>
          <a:xfrm>
            <a:off x="7219950" y="337185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ANALYTICS</a:t>
            </a:r>
            <a:endParaRPr lang="en-US" sz="1300"/>
          </a:p>
        </p:txBody>
      </p:sp>
      <p:sp>
        <p:nvSpPr>
          <p:cNvPr id="34" name="Feature 2 body"/>
          <p:cNvSpPr txBox="1"/>
          <p:nvPr/>
        </p:nvSpPr>
        <p:spPr>
          <a:xfrm>
            <a:off x="7219950" y="3752850"/>
            <a:ext cx="36195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Market pulse, reference assets, and risk context.</a:t>
            </a:r>
            <a:endParaRPr lang="en-US" sz="2000"/>
          </a:p>
        </p:txBody>
      </p:sp>
      <p:sp>
        <p:nvSpPr>
          <p:cNvPr id="35" name="Feature 3"/>
          <p:cNvSpPr txBox="1"/>
          <p:nvPr/>
        </p:nvSpPr>
        <p:spPr>
          <a:xfrm>
            <a:off x="7219950" y="4552950"/>
            <a:ext cx="36195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DEMO + DEVNET</a:t>
            </a:r>
            <a:endParaRPr lang="en-US" sz="1300"/>
          </a:p>
        </p:txBody>
      </p:sp>
      <p:sp>
        <p:nvSpPr>
          <p:cNvPr id="36" name="Feature 3 body"/>
          <p:cNvSpPr txBox="1"/>
          <p:nvPr/>
        </p:nvSpPr>
        <p:spPr>
          <a:xfrm>
            <a:off x="7219950" y="4933950"/>
            <a:ext cx="3619500" cy="533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1">
                <a:solidFill>
                  <a:srgbClr val="F6FAFF"/>
                </a:solidFill>
                <a:latin typeface="Aptos"/>
              </a:rPr>
              <a:t>Explore without a wallet. Connect when you’re ready to sign.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The proof is already reproducible on devnet.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08</a:t>
            </a:r>
            <a:endParaRPr lang="en-US" sz="1100"/>
          </a:p>
        </p:txBody>
      </p:sp>
      <p:sp>
        <p:nvSpPr>
          <p:cNvPr id="20" name="Proof lead"/>
          <p:cNvSpPr txBox="1"/>
          <p:nvPr/>
        </p:nvSpPr>
        <p:spPr>
          <a:xfrm>
            <a:off x="685800" y="2114550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400" b="1">
                <a:solidFill>
                  <a:srgbClr val="F6FAFF"/>
                </a:solidFill>
                <a:latin typeface="Aptos"/>
              </a:rPr>
              <a:t>This is not a mock-only story. The repository ships the path to a real KLend test position.</a:t>
            </a:r>
            <a:endParaRPr lang="en-US" sz="2400"/>
          </a:p>
        </p:txBody>
      </p:sp>
      <p:sp>
        <p:nvSpPr>
          <p:cNvPr id="21" name="Proof body"/>
          <p:cNvSpPr txBox="1"/>
          <p:nvPr/>
        </p:nvSpPr>
        <p:spPr>
          <a:xfrm>
            <a:off x="685800" y="3238500"/>
            <a:ext cx="447675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000" b="0">
                <a:solidFill>
                  <a:srgbClr val="A8B5C8"/>
                </a:solidFill>
                <a:latin typeface="Aptos"/>
              </a:rPr>
              <a:t>Create the market. Refresh live Pyth feeds. Open a borrow. Read the obligation. Let the watcher submit the action.</a:t>
            </a:r>
            <a:endParaRPr lang="en-US" sz="2000"/>
          </a:p>
        </p:txBody>
      </p:sp>
      <p:sp>
        <p:nvSpPr>
          <p:cNvPr id="30" name="Proof 1"/>
          <p:cNvSpPr txBox="1"/>
          <p:nvPr/>
        </p:nvSpPr>
        <p:spPr>
          <a:xfrm>
            <a:off x="6286500" y="2228850"/>
            <a:ext cx="3962400" cy="6477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31" name="Proof 1 text"/>
          <p:cNvSpPr txBox="1"/>
          <p:nvPr/>
        </p:nvSpPr>
        <p:spPr>
          <a:xfrm>
            <a:off x="6534150" y="241935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7AD7FF"/>
                </a:solidFill>
                <a:latin typeface="Aptos"/>
              </a:rPr>
              <a:t>01  LIVE PYTH FEEDS</a:t>
            </a:r>
            <a:endParaRPr lang="en-US" sz="1600"/>
          </a:p>
        </p:txBody>
      </p:sp>
      <p:sp>
        <p:nvSpPr>
          <p:cNvPr id="32" name="Proof 2"/>
          <p:cNvSpPr txBox="1"/>
          <p:nvPr/>
        </p:nvSpPr>
        <p:spPr>
          <a:xfrm>
            <a:off x="6286500" y="3162300"/>
            <a:ext cx="3962400" cy="6477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33" name="Proof 2 text"/>
          <p:cNvSpPr txBox="1"/>
          <p:nvPr/>
        </p:nvSpPr>
        <p:spPr>
          <a:xfrm>
            <a:off x="6534150" y="33528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7AD7FF"/>
                </a:solidFill>
                <a:latin typeface="Aptos"/>
              </a:rPr>
              <a:t>02  REAL KLEND OBLIGATION</a:t>
            </a:r>
            <a:endParaRPr lang="en-US" sz="1600"/>
          </a:p>
        </p:txBody>
      </p:sp>
      <p:sp>
        <p:nvSpPr>
          <p:cNvPr id="34" name="Proof 3"/>
          <p:cNvSpPr txBox="1"/>
          <p:nvPr/>
        </p:nvSpPr>
        <p:spPr>
          <a:xfrm>
            <a:off x="6286500" y="4095750"/>
            <a:ext cx="3962400" cy="6477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35" name="Proof 3 text"/>
          <p:cNvSpPr txBox="1"/>
          <p:nvPr/>
        </p:nvSpPr>
        <p:spPr>
          <a:xfrm>
            <a:off x="6534150" y="428625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7AD7FF"/>
                </a:solidFill>
                <a:latin typeface="Aptos"/>
              </a:rPr>
              <a:t>03  REPRODUCIBLE TOOLING</a:t>
            </a:r>
            <a:endParaRPr lang="en-US" sz="1600"/>
          </a:p>
        </p:txBody>
      </p:sp>
      <p:sp>
        <p:nvSpPr>
          <p:cNvPr id="36" name="Proof 4"/>
          <p:cNvSpPr txBox="1"/>
          <p:nvPr/>
        </p:nvSpPr>
        <p:spPr>
          <a:xfrm>
            <a:off x="6286500" y="5029200"/>
            <a:ext cx="3962400" cy="647700"/>
          </a:xfrm>
          <a:prstGeom prst="roundRect">
            <a:avLst/>
          </a:prstGeom>
          <a:solidFill>
            <a:srgbClr val="1468D8"/>
          </a:solidFill>
          <a:ln w="1">
            <a:solidFill>
              <a:srgbClr val="3C9DFF"/>
            </a:solidFill>
          </a:ln>
        </p:spPr>
      </p:sp>
      <p:sp>
        <p:nvSpPr>
          <p:cNvPr id="37" name="Proof 4 text"/>
          <p:cNvSpPr txBox="1"/>
          <p:nvPr/>
        </p:nvSpPr>
        <p:spPr>
          <a:xfrm>
            <a:off x="6534150" y="52197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600" b="1">
                <a:solidFill>
                  <a:srgbClr val="F6FAFF"/>
                </a:solidFill>
                <a:latin typeface="Aptos"/>
              </a:rPr>
              <a:t>04  OWNER-SIGNED FLOW</a:t>
            </a:r>
            <a:endParaRPr lang="en-US"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The first release is focused — and that makes the next proof clear.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09</a:t>
            </a:r>
            <a:endParaRPr lang="en-US" sz="1100"/>
          </a:p>
        </p:txBody>
      </p:sp>
      <p:sp>
        <p:nvSpPr>
          <p:cNvPr id="20" name="Focus"/>
          <p:cNvSpPr txBox="1"/>
          <p:nvPr/>
        </p:nvSpPr>
        <p:spPr>
          <a:xfrm>
            <a:off x="685800" y="2133600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WHAT V1 ALREADY DOES</a:t>
            </a:r>
            <a:endParaRPr lang="en-US" sz="1300"/>
          </a:p>
        </p:txBody>
      </p:sp>
      <p:sp>
        <p:nvSpPr>
          <p:cNvPr id="21" name="Focus body"/>
          <p:cNvSpPr txBox="1"/>
          <p:nvPr/>
        </p:nvSpPr>
        <p:spPr>
          <a:xfrm>
            <a:off x="685800" y="2571750"/>
            <a:ext cx="4000500" cy="1390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1">
                <a:solidFill>
                  <a:srgbClr val="F6FAFF"/>
                </a:solidFill>
                <a:latin typeface="Aptos"/>
              </a:rPr>
              <a:t>• Guards one Kamino obligation per guard
• Repays debt when the trigger is reached
• Keeps the owner in control of funds and exit</a:t>
            </a:r>
            <a:endParaRPr lang="en-US" sz="2100"/>
          </a:p>
        </p:txBody>
      </p:sp>
      <p:cxnSp>
        <p:nvCxnSpPr>
          <p:cNvPr id="30" name="Roadmap line"/>
          <p:cNvCxnSpPr/>
          <p:nvPr/>
        </p:nvCxnSpPr>
        <p:spPr>
          <a:xfrm>
            <a:off x="5924550" y="2324100"/>
            <a:ext cx="0" cy="2838450"/>
          </a:xfrm>
          <a:prstGeom prst="line">
            <a:avLst/>
          </a:prstGeom>
          <a:ln w="254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Next"/>
          <p:cNvSpPr txBox="1"/>
          <p:nvPr/>
        </p:nvSpPr>
        <p:spPr>
          <a:xfrm>
            <a:off x="6686550" y="2133600"/>
            <a:ext cx="32385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WHAT COMES NEXT</a:t>
            </a:r>
            <a:endParaRPr lang="en-US" sz="1300"/>
          </a:p>
        </p:txBody>
      </p:sp>
      <p:sp>
        <p:nvSpPr>
          <p:cNvPr id="32" name="Next body"/>
          <p:cNvSpPr txBox="1"/>
          <p:nvPr/>
        </p:nvSpPr>
        <p:spPr>
          <a:xfrm>
            <a:off x="6686550" y="2571750"/>
            <a:ext cx="4000500" cy="13906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1">
                <a:solidFill>
                  <a:srgbClr val="F6FAFF"/>
                </a:solidFill>
                <a:latin typeface="Aptos"/>
              </a:rPr>
              <a:t>• Broaden collateral top-up support
• Continue devnet verification
• Complete independent security review before mainnet</a:t>
            </a:r>
            <a:endParaRPr lang="en-US" sz="2100"/>
          </a:p>
        </p:txBody>
      </p:sp>
      <p:cxnSp>
        <p:nvCxnSpPr>
          <p:cNvPr id="33" name="Bottom accent"/>
          <p:cNvCxnSpPr/>
          <p:nvPr/>
        </p:nvCxnSpPr>
        <p:spPr>
          <a:xfrm>
            <a:off x="685800" y="5467350"/>
            <a:ext cx="10820400" cy="0"/>
          </a:xfrm>
          <a:prstGeom prst="line">
            <a:avLst/>
          </a:prstGeom>
          <a:ln w="38100">
            <a:solidFill>
              <a:srgbClr val="3C9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losing note"/>
          <p:cNvSpPr txBox="1"/>
          <p:nvPr/>
        </p:nvSpPr>
        <p:spPr>
          <a:xfrm>
            <a:off x="685800" y="5676900"/>
            <a:ext cx="9525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900" b="1">
                <a:solidFill>
                  <a:srgbClr val="A8B5C8"/>
                </a:solidFill>
                <a:latin typeface="Aptos"/>
              </a:rPr>
              <a:t>A clear scope is not a smaller ambition. It is a sharper path to trust.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/>
      <p:sp>
        <p:nvSpPr>
          <p:cNvPr id="1" name="Background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</p:sp>
      <p:sp>
        <p:nvSpPr>
          <p:cNvPr id="10" name="Kicker"/>
          <p:cNvSpPr txBox="1"/>
          <p:nvPr/>
        </p:nvSpPr>
        <p:spPr>
          <a:xfrm>
            <a:off x="685800" y="419100"/>
            <a:ext cx="8763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200" b="1">
                <a:solidFill>
                  <a:srgbClr val="7AD7FF"/>
                </a:solidFill>
                <a:latin typeface="Aptos"/>
              </a:rPr>
              <a:t>BRACE / POLICY-CONSTRAINED LIQUIDATION DEFENSE</a:t>
            </a:r>
            <a:endParaRPr lang="en-US" sz="1200"/>
          </a:p>
        </p:txBody>
      </p:sp>
      <p:sp>
        <p:nvSpPr>
          <p:cNvPr id="11" name="Title"/>
          <p:cNvSpPr txBox="1"/>
          <p:nvPr/>
        </p:nvSpPr>
        <p:spPr>
          <a:xfrm>
            <a:off x="685800" y="838200"/>
            <a:ext cx="10572750" cy="7429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800" b="1">
                <a:solidFill>
                  <a:srgbClr val="F6FAFF"/>
                </a:solidFill>
                <a:latin typeface="Aptos"/>
              </a:rPr>
              <a:t>Give liquidation defense a boundary.</a:t>
            </a:r>
            <a:endParaRPr lang="en-US" sz="3800"/>
          </a:p>
        </p:txBody>
      </p:sp>
      <p:cxnSp>
        <p:nvCxnSpPr>
          <p:cNvPr id="12" name="Title rule"/>
          <p:cNvCxnSpPr/>
          <p:nvPr/>
        </p:nvCxnSpPr>
        <p:spPr>
          <a:xfrm>
            <a:off x="685800" y="1695450"/>
            <a:ext cx="10820400" cy="0"/>
          </a:xfrm>
          <a:prstGeom prst="line">
            <a:avLst/>
          </a:prstGeom>
          <a:ln w="12700">
            <a:solidFill>
              <a:srgbClr val="1C334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"/>
          <p:cNvSpPr txBox="1"/>
          <p:nvPr/>
        </p:nvSpPr>
        <p:spPr>
          <a:xfrm>
            <a:off x="11125200" y="6343650"/>
            <a:ext cx="381000" cy="2095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 algn="right"/>
            <a:r>
              <a:rPr lang="en-US" sz="1100" b="1">
                <a:solidFill>
                  <a:srgbClr val="6E7E95"/>
                </a:solidFill>
                <a:latin typeface="Aptos"/>
              </a:rPr>
              <a:t>10</a:t>
            </a:r>
            <a:endParaRPr lang="en-US" sz="1100"/>
          </a:p>
        </p:txBody>
      </p:sp>
      <p:sp>
        <p:nvSpPr>
          <p:cNvPr id="20" name="Close lead"/>
          <p:cNvSpPr txBox="1"/>
          <p:nvPr/>
        </p:nvSpPr>
        <p:spPr>
          <a:xfrm>
            <a:off x="685800" y="2190750"/>
            <a:ext cx="5810250" cy="1047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3200" b="1">
                <a:solidFill>
                  <a:srgbClr val="F6FAFF"/>
                </a:solidFill>
                <a:latin typeface="Aptos"/>
              </a:rPr>
              <a:t>Brace lets a user define exactly what automation may do before the market moves.</a:t>
            </a:r>
            <a:endParaRPr lang="en-US" sz="3200"/>
          </a:p>
        </p:txBody>
      </p:sp>
      <p:sp>
        <p:nvSpPr>
          <p:cNvPr id="21" name="Close body"/>
          <p:cNvSpPr txBox="1"/>
          <p:nvPr/>
        </p:nvSpPr>
        <p:spPr>
          <a:xfrm>
            <a:off x="685800" y="3619500"/>
            <a:ext cx="4953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100" b="0">
                <a:solidFill>
                  <a:srgbClr val="A8B5C8"/>
                </a:solidFill>
                <a:latin typeface="Aptos"/>
              </a:rPr>
              <a:t>Connect a wallet. Open a devnet position. Set the rule. Keep the authority narrow.</a:t>
            </a:r>
            <a:endParaRPr lang="en-US" sz="2100"/>
          </a:p>
        </p:txBody>
      </p:sp>
      <p:cxnSp>
        <p:nvCxnSpPr>
          <p:cNvPr id="22" name="Close accent"/>
          <p:cNvCxnSpPr/>
          <p:nvPr/>
        </p:nvCxnSpPr>
        <p:spPr>
          <a:xfrm>
            <a:off x="685800" y="4953000"/>
            <a:ext cx="2190750" cy="0"/>
          </a:xfrm>
          <a:prstGeom prst="line">
            <a:avLst/>
          </a:prstGeom>
          <a:ln w="50800">
            <a:solidFill>
              <a:srgbClr val="3C9D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TA"/>
          <p:cNvSpPr txBox="1"/>
          <p:nvPr/>
        </p:nvSpPr>
        <p:spPr>
          <a:xfrm>
            <a:off x="685800" y="5219700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300" b="1">
                <a:solidFill>
                  <a:srgbClr val="7AD7FF"/>
                </a:solidFill>
                <a:latin typeface="Aptos"/>
              </a:rPr>
              <a:t>BRACE  /  POLICY-CONSTRAINED LIQUIDATION DEFENSE</a:t>
            </a:r>
            <a:endParaRPr lang="en-US" sz="1300"/>
          </a:p>
        </p:txBody>
      </p:sp>
      <p:sp>
        <p:nvSpPr>
          <p:cNvPr id="30" name="Closing panel"/>
          <p:cNvSpPr txBox="1"/>
          <p:nvPr/>
        </p:nvSpPr>
        <p:spPr>
          <a:xfrm>
            <a:off x="7429500" y="2266950"/>
            <a:ext cx="3429000" cy="2476500"/>
          </a:xfrm>
          <a:prstGeom prst="roundRect">
            <a:avLst/>
          </a:prstGeom>
          <a:solidFill>
            <a:srgbClr val="0B1B30"/>
          </a:solidFill>
          <a:ln w="1">
            <a:solidFill>
              <a:srgbClr val="1C334D"/>
            </a:solidFill>
          </a:ln>
        </p:spPr>
      </p:sp>
      <p:sp>
        <p:nvSpPr>
          <p:cNvPr id="31" name="Closing panel title"/>
          <p:cNvSpPr txBox="1"/>
          <p:nvPr/>
        </p:nvSpPr>
        <p:spPr>
          <a:xfrm>
            <a:off x="7810500" y="2647950"/>
            <a:ext cx="2667000" cy="3238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1400" b="1">
                <a:solidFill>
                  <a:srgbClr val="7AD7FF"/>
                </a:solidFill>
                <a:latin typeface="Aptos"/>
              </a:rPr>
              <a:t>OWNER CONTROL</a:t>
            </a:r>
            <a:endParaRPr lang="en-US" sz="1400"/>
          </a:p>
        </p:txBody>
      </p:sp>
      <p:sp>
        <p:nvSpPr>
          <p:cNvPr id="32" name="Closing panel body"/>
          <p:cNvSpPr txBox="1"/>
          <p:nvPr/>
        </p:nvSpPr>
        <p:spPr>
          <a:xfrm>
            <a:off x="7810500" y="3162300"/>
            <a:ext cx="2667000" cy="104775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t" wrap="square"/>
          <a:lstStyle/>
          <a:p>
            <a:pPr/>
            <a:r>
              <a:rPr lang="en-US" sz="2900" b="1">
                <a:solidFill>
                  <a:srgbClr val="F6FAFF"/>
                </a:solidFill>
                <a:latin typeface="Aptos"/>
              </a:rPr>
              <a:t>Your rule.
Your reserve.
Your exit.</a:t>
            </a:r>
            <a:endParaRPr lang="en-US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ace">
  <a:themeElements>
    <a:clrScheme name="Brace">
      <a:dk1>
        <a:srgbClr val="07111F"/>
      </a:dk1>
      <a:lt1>
        <a:srgbClr val="F6FAFF"/>
      </a:lt1>
      <a:dk2>
        <a:srgbClr val="07111F"/>
      </a:dk2>
      <a:lt2>
        <a:srgbClr val="F6FAFF"/>
      </a:lt2>
      <a:accent1>
        <a:srgbClr val="3C9DFF"/>
      </a:accent1>
      <a:accent2>
        <a:srgbClr val="7AD7FF"/>
      </a:accent2>
      <a:accent3>
        <a:srgbClr val="64E2B0"/>
      </a:accent3>
      <a:accent4>
        <a:srgbClr val="1468D8"/>
      </a:accent4>
      <a:accent5>
        <a:srgbClr val="A8B5C8"/>
      </a:accent5>
      <a:accent6>
        <a:srgbClr val="1C334D"/>
      </a:accent6>
      <a:hlink>
        <a:srgbClr val="3C9DFF"/>
      </a:hlink>
      <a:folHlink>
        <a:srgbClr val="7AD7FF"/>
      </a:folHlink>
    </a:clrScheme>
    <a:fontScheme name="Brace">
      <a:majorFont>
        <a:latin typeface="Aptos Display"/>
      </a:majorFont>
      <a:minorFont>
        <a:latin typeface="Aptos"/>
      </a:minorFont>
    </a:fontScheme>
    <a:fmtScheme name="Brace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Brace presentation builder</Application>
  <PresentationFormat>Widescreen</PresentationFormat>
  <Slides>10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title>Brace — Policy-constrained liquidation defense</dc:title>
  <dc:subject>Product pitch deck</dc:subject>
  <dc:creator>Brace</dc:creator>
  <cp:lastModifiedBy>Brace</cp:lastModifiedBy>
  <dcterms:created xmlns:xsi="http://www.w3.org/2001/XMLSchema-instance" xsi:type="dcterms:W3CDTF">2026-09-06T00:00:00Z</dcterms:created>
</cp:coreProperties>
</file>